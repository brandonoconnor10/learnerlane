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A5FB-0FF8-1BFA-366F-9FF28F561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EC20A-4830-4021-8305-05351368C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96EF2-185F-62D6-6502-D34DA2F4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02464-0A3C-6B5F-0A1D-48FC1612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013A2-CE15-A5AB-BF98-F409A9217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7479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386F-1AFB-816E-A41B-6A585B706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5976-7BB3-3024-9002-D1068D6C5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0FB03-23DF-D7D3-5A17-FF78CAAB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E98F9-E783-7B0C-0460-2B1288C7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DADBA-3F1C-7524-47BC-99738C950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354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0005-73C7-59D9-BBFB-A6EB43E9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ACA12-B125-D4C7-9896-EA8C8A397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F15CA-13B1-4E4A-98A4-B84E8275A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16ABB-78EE-D4C0-F502-F6FCA93F9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FC961-24E6-5E47-E9D2-B4F14A84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6350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3459-F125-5A04-27AB-CC9F7A20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5B05B-56EB-B250-F0A3-BAD2CFDBF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6CCFC-67FC-BB2D-46BC-A5CA91307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4DC9F-568C-C4EE-700A-7EA35680D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3FA93-EEAA-065A-E948-277B7D37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A2FA8-1F4C-2727-3525-6C377DF6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8537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49D7F-35D5-8A87-0D5B-09E51921E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1ABF1-1EF8-E990-C6A3-1B8F4FEE5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69CCE-AE05-DFA0-BD5B-F13138752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FB60F-595F-D6EC-9796-8549BE6EE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C5181-C80A-AAB6-9417-21305E505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10D78-7ABE-B0EF-9BE0-8E505F2C2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BFD07A-325F-5CED-D3D9-484BD8F9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8C63E-BA28-1816-F55F-565BEB8D4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92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57D4-9010-84B7-6DDE-3A3BB9C7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87C3B-2493-0D88-E92C-CFF65EA6A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0925D-1DDA-6FD2-B9F2-ABACA5826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C907A-BA10-C258-4464-9205BEB3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3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2EF9D-A4C4-8073-F185-2E0E674E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7D9CF-BC3A-B562-CA3D-CB706D5E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921BD-7737-227B-D3DE-B47727B6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1804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C7557-ACB3-55BC-46A0-ED28FCC07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9972A-5590-8BB3-B458-F3E8271E5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9D8C0-CAD4-2F9C-6D6B-A7B9DEC97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1DA1B-7CA0-75C6-566D-7C8C8EA43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BEB24-E737-86A9-9AD8-6B212173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C5B6B-1B38-8442-B146-34CE7DFF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555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E38F6-6171-DCEA-5DE5-F385B6786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11654-CB62-A4C4-EC52-76062140D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B7B2E-2FA3-A842-19DB-0CE29CE9E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3D25A-3896-2CAD-66A7-AA14D682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E3903-8934-099D-300D-6BC7EF4E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B1FAD-E7E3-6B79-30C3-C6FCA73D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140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0C63-82B0-5580-B006-3257F568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000A0-5ECB-9265-2C3C-AD82F1D53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9BDBB-50E4-745F-DEB5-67A56667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C1673-0341-1074-FFC4-425268CD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FC791-3D4F-7A41-D1E9-1FFD4234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265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1F6E4-7953-FDFE-DB9F-C15C637AB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1B44C-7788-F3C6-E1CA-A6D2E3422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6D77E-2111-7092-8719-037B93D5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E6313-ED3A-E5AD-6661-09BD111EC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7A043-11A4-8F6B-40CC-D4DD4E38C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25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F01D2E-A632-0894-DBEA-B43617D3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0D2C3-A32E-E821-A410-3E35BA7FA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F5251-FEF7-BAFC-DA5B-9E2C2B9E3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A6EEE-B339-4385-835F-F6CE96112E0D}" type="datetimeFigureOut">
              <a:rPr lang="en-ZA" smtClean="0"/>
              <a:t>2025/07/02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B06C5-D0A5-60E6-DB75-8B419898D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76538-AEAD-D910-F3B2-2DB085913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52E37-C438-47C7-B572-5A45E8338DF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568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erlane.netlify.app/" TargetMode="External"/><Relationship Id="rId2" Type="http://schemas.openxmlformats.org/officeDocument/2006/relationships/hyperlink" Target="https://github.com/brandonoconnor10/LearnerLan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CA3F56-DBF1-0C01-7D76-8E7124D61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>
                <a:latin typeface="Arial Black" panose="020B0A04020102020204" pitchFamily="34" charset="0"/>
              </a:rPr>
              <a:t>Learner Lane Web Application</a:t>
            </a:r>
            <a:endParaRPr lang="en-ZA" dirty="0">
              <a:latin typeface="Arial Black" panose="020B0A04020102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F1CFF4-7E20-8CBE-E991-437FB1149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fontScale="92500"/>
          </a:bodyPr>
          <a:lstStyle/>
          <a:p>
            <a:pPr algn="l"/>
            <a:r>
              <a:rPr lang="en-US" b="1" dirty="0">
                <a:latin typeface="Aptos" panose="020B0004020202020204" pitchFamily="34" charset="0"/>
              </a:rPr>
              <a:t>Name: </a:t>
            </a:r>
            <a:r>
              <a:rPr lang="en-US" dirty="0">
                <a:latin typeface="Aptos" panose="020B0004020202020204" pitchFamily="34" charset="0"/>
              </a:rPr>
              <a:t>Brandon O’Connor</a:t>
            </a:r>
          </a:p>
          <a:p>
            <a:pPr algn="l"/>
            <a:r>
              <a:rPr lang="en-ZA" b="1" dirty="0">
                <a:latin typeface="Aptos" panose="020B0004020202020204" pitchFamily="34" charset="0"/>
              </a:rPr>
              <a:t>Matriculation Number: </a:t>
            </a:r>
            <a:r>
              <a:rPr lang="en-ZA" dirty="0">
                <a:latin typeface="Aptos" panose="020B0004020202020204" pitchFamily="34" charset="0"/>
              </a:rPr>
              <a:t>9214115</a:t>
            </a:r>
          </a:p>
          <a:p>
            <a:pPr algn="l"/>
            <a:r>
              <a:rPr lang="en-ZA" b="1" dirty="0">
                <a:latin typeface="Aptos" panose="020B0004020202020204" pitchFamily="34" charset="0"/>
              </a:rPr>
              <a:t>Phase 2: </a:t>
            </a:r>
            <a:r>
              <a:rPr lang="en-ZA" dirty="0">
                <a:latin typeface="Aptos" panose="020B0004020202020204" pitchFamily="34" charset="0"/>
              </a:rPr>
              <a:t>Development Phase / Reflection Phase</a:t>
            </a:r>
          </a:p>
          <a:p>
            <a:pPr algn="l"/>
            <a:r>
              <a:rPr lang="en-ZA" b="1" dirty="0">
                <a:latin typeface="Aptos" panose="020B0004020202020204" pitchFamily="34" charset="0"/>
              </a:rPr>
              <a:t>GitHub Repository: </a:t>
            </a:r>
            <a:r>
              <a:rPr lang="en-ZA" dirty="0">
                <a:latin typeface="Aptos" panose="020B0004020202020204" pitchFamily="34" charset="0"/>
                <a:hlinkClick r:id="rId2"/>
              </a:rPr>
              <a:t>https://github.com/brandonoconnor10/LearnerLane</a:t>
            </a:r>
            <a:endParaRPr lang="en-ZA" dirty="0">
              <a:latin typeface="Aptos" panose="020B0004020202020204" pitchFamily="34" charset="0"/>
            </a:endParaRPr>
          </a:p>
          <a:p>
            <a:pPr algn="l"/>
            <a:r>
              <a:rPr lang="en-ZA" b="1" dirty="0">
                <a:latin typeface="Aptos" panose="020B0004020202020204" pitchFamily="34" charset="0"/>
              </a:rPr>
              <a:t>Site Link: </a:t>
            </a:r>
            <a:r>
              <a:rPr lang="en-ZA" dirty="0">
                <a:latin typeface="Aptos" panose="020B0004020202020204" pitchFamily="34" charset="0"/>
                <a:hlinkClick r:id="rId3"/>
              </a:rPr>
              <a:t>https://learnerlane.netlify.app/</a:t>
            </a:r>
            <a:endParaRPr lang="en-ZA" dirty="0">
              <a:latin typeface="Aptos" panose="020B0004020202020204" pitchFamily="34" charset="0"/>
            </a:endParaRPr>
          </a:p>
          <a:p>
            <a:pPr algn="l"/>
            <a:endParaRPr lang="en-ZA" dirty="0">
              <a:latin typeface="Aptos" panose="020B0004020202020204" pitchFamily="34" charset="0"/>
            </a:endParaRPr>
          </a:p>
          <a:p>
            <a:pPr algn="l"/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021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50EC1-760B-4DCC-E29E-CECC688A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9A5C-3CCE-6701-D4C1-1029E1B4F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Purpose of Learner Lane</a:t>
            </a:r>
            <a:endParaRPr lang="en-ZA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B7FFC4-06E5-D2F2-FF26-1003B7148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2" t="-7461" r="2785" b="17638"/>
          <a:stretch>
            <a:fillRect/>
          </a:stretch>
        </p:blipFill>
        <p:spPr>
          <a:xfrm>
            <a:off x="5183188" y="1495425"/>
            <a:ext cx="6172200" cy="3857625"/>
          </a:xfrm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4DC87-661E-F23D-13C2-290BF5676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LearnerLane was created to simplify and modernize the way young South African drivers prepare for the K53 learner’s license. Many learners struggle with outdated, text-heavy study materials that are hard to follow and lack interactivity. The purpose of this web app is to provide a clean, visual, and structured learning experience through clearly divided sections: Road Signs, Rules of the Road, and Quizzes - making the process less overwhelming and more effective. By focusing on ease of use, accessibility, and confidence-building, LearnerLane empowers learners to study at their own pace and feel better prepared for the test.</a:t>
            </a:r>
            <a:endParaRPr lang="en-ZA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832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C0014-BB79-7AD9-3ED3-40C4DDFD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7F9C-ADA3-E209-FA1A-4ACC70EF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Architecture Diagram of Learner Lane</a:t>
            </a:r>
            <a:endParaRPr lang="en-ZA" dirty="0">
              <a:latin typeface="Arial Black" panose="020B0A04020102020204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C5149AB-4B52-9ECC-E5A4-9750294E19F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6" t="-2" r="-457" b="-9565"/>
          <a:stretch>
            <a:fillRect/>
          </a:stretch>
        </p:blipFill>
        <p:spPr>
          <a:xfrm>
            <a:off x="5183188" y="987425"/>
            <a:ext cx="6172200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16B00-590B-E099-DFDB-5F740DD92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616199"/>
            <a:ext cx="3932237" cy="2286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Aptos" panose="020B0004020202020204" pitchFamily="34" charset="0"/>
              </a:rPr>
              <a:t>React.js SPA handles routing and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Aptos" panose="020B0004020202020204" pitchFamily="34" charset="0"/>
              </a:rPr>
              <a:t>Airtable stores K53 content (Signs, Rules, Questions)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Aptos" panose="020B0004020202020204" pitchFamily="34" charset="0"/>
              </a:rPr>
              <a:t>Axios fetches data via 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Aptos" panose="020B0004020202020204" pitchFamily="34" charset="0"/>
              </a:rPr>
              <a:t>Netlify deploys and serves the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Aptos" panose="020B0004020202020204" pitchFamily="34" charset="0"/>
              </a:rPr>
              <a:t>React Router enables dynamic navigation</a:t>
            </a:r>
          </a:p>
        </p:txBody>
      </p:sp>
    </p:spTree>
    <p:extLst>
      <p:ext uri="{BB962C8B-B14F-4D97-AF65-F5344CB8AC3E}">
        <p14:creationId xmlns:p14="http://schemas.microsoft.com/office/powerpoint/2010/main" val="516963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E12AF-755A-2199-47CC-0C8234997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6D6C-3907-6168-343F-ED2E5C6A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Overview of Technology Choices:</a:t>
            </a:r>
            <a:endParaRPr lang="en-ZA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730E56-14CB-0440-56AE-3B59A2BD7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00" y="1498267"/>
            <a:ext cx="360000" cy="360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58025C-62D1-788E-17D3-228DD041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0" y="1979589"/>
            <a:ext cx="481600" cy="28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AF8554-847E-D6E1-9DBD-4C0C5D543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1" y="2419404"/>
            <a:ext cx="360000" cy="36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C88724-2B54-1AC3-DD3D-39BC5D5E07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00" y="3960007"/>
            <a:ext cx="360000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E51BA3-92E2-841D-61BB-269F955D68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00" y="2873563"/>
            <a:ext cx="576000" cy="432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4AA8992-5C14-3FFB-1FCA-7B6FE439CA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1" y="5009065"/>
            <a:ext cx="360000" cy="36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E340BBC-3C6A-490B-B365-9F455411CB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81" y="3261559"/>
            <a:ext cx="720000" cy="72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0BD5C7C-E6F6-5878-EC8C-4BD26EC62A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21" y="4439978"/>
            <a:ext cx="1363720" cy="39980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3DE0404-8AA1-718D-E857-8C4891E5DFDA}"/>
              </a:ext>
            </a:extLst>
          </p:cNvPr>
          <p:cNvSpPr txBox="1"/>
          <p:nvPr/>
        </p:nvSpPr>
        <p:spPr>
          <a:xfrm>
            <a:off x="1079000" y="1488935"/>
            <a:ext cx="6906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React.js: </a:t>
            </a:r>
            <a:r>
              <a:rPr lang="en-US" dirty="0">
                <a:latin typeface="Aptos" panose="020B0004020202020204" pitchFamily="34" charset="0"/>
              </a:rPr>
              <a:t>Used to build a fast, modular single-page application (SPA)</a:t>
            </a:r>
            <a:endParaRPr lang="en-ZA" dirty="0"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8AFB51-07CF-006A-2946-0F26A12884BE}"/>
              </a:ext>
            </a:extLst>
          </p:cNvPr>
          <p:cNvSpPr txBox="1"/>
          <p:nvPr/>
        </p:nvSpPr>
        <p:spPr>
          <a:xfrm>
            <a:off x="1079000" y="1955913"/>
            <a:ext cx="5913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React Router: </a:t>
            </a:r>
            <a:r>
              <a:rPr lang="en-US" dirty="0">
                <a:latin typeface="Aptos" panose="020B0004020202020204" pitchFamily="34" charset="0"/>
              </a:rPr>
              <a:t>Handles client-side routing between pages</a:t>
            </a:r>
            <a:endParaRPr lang="en-ZA" dirty="0"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4347F7-7369-8368-AB3C-007B1A285BED}"/>
              </a:ext>
            </a:extLst>
          </p:cNvPr>
          <p:cNvSpPr txBox="1"/>
          <p:nvPr/>
        </p:nvSpPr>
        <p:spPr>
          <a:xfrm>
            <a:off x="1079000" y="2419404"/>
            <a:ext cx="7930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Tailwind CSS: </a:t>
            </a:r>
            <a:r>
              <a:rPr lang="en-US" dirty="0">
                <a:latin typeface="Aptos" panose="020B0004020202020204" pitchFamily="34" charset="0"/>
              </a:rPr>
              <a:t>Utility-first CSS framework for responsive and modern UI design</a:t>
            </a:r>
            <a:endParaRPr lang="en-ZA" dirty="0"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DF5A9C-FF87-1150-A458-08ADBEE5406F}"/>
              </a:ext>
            </a:extLst>
          </p:cNvPr>
          <p:cNvSpPr txBox="1"/>
          <p:nvPr/>
        </p:nvSpPr>
        <p:spPr>
          <a:xfrm>
            <a:off x="1079000" y="2882895"/>
            <a:ext cx="624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Google Fonts: </a:t>
            </a:r>
            <a:r>
              <a:rPr lang="en-US" dirty="0">
                <a:latin typeface="Aptos" panose="020B0004020202020204" pitchFamily="34" charset="0"/>
              </a:rPr>
              <a:t>Enhances visual appeal with clean typography</a:t>
            </a:r>
            <a:endParaRPr lang="en-ZA" dirty="0"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5A90CA-0291-FA7D-5F25-AFD61565009E}"/>
              </a:ext>
            </a:extLst>
          </p:cNvPr>
          <p:cNvSpPr txBox="1"/>
          <p:nvPr/>
        </p:nvSpPr>
        <p:spPr>
          <a:xfrm>
            <a:off x="1079000" y="3421108"/>
            <a:ext cx="101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Airtable: </a:t>
            </a:r>
            <a:r>
              <a:rPr lang="en-US" dirty="0">
                <a:latin typeface="Aptos" panose="020B0004020202020204" pitchFamily="34" charset="0"/>
              </a:rPr>
              <a:t>Acts as a cloud-based backend/database for storing all K53 content (rules, signs, questions)</a:t>
            </a:r>
            <a:endParaRPr lang="en-ZA" dirty="0"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EE54D3-0207-8F3C-2A26-F2EEA4928761}"/>
              </a:ext>
            </a:extLst>
          </p:cNvPr>
          <p:cNvSpPr txBox="1"/>
          <p:nvPr/>
        </p:nvSpPr>
        <p:spPr>
          <a:xfrm>
            <a:off x="1079000" y="3944613"/>
            <a:ext cx="5800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Axios: </a:t>
            </a:r>
            <a:r>
              <a:rPr lang="en-US" dirty="0">
                <a:latin typeface="Aptos" panose="020B0004020202020204" pitchFamily="34" charset="0"/>
              </a:rPr>
              <a:t>Used to fetch data from Airtable via HTTP requests</a:t>
            </a:r>
            <a:endParaRPr lang="en-ZA" dirty="0"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6F76C3-73AD-C41A-4B4A-F759A40CE67C}"/>
              </a:ext>
            </a:extLst>
          </p:cNvPr>
          <p:cNvSpPr txBox="1"/>
          <p:nvPr/>
        </p:nvSpPr>
        <p:spPr>
          <a:xfrm>
            <a:off x="1079000" y="4455212"/>
            <a:ext cx="8111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REST API: </a:t>
            </a:r>
            <a:r>
              <a:rPr lang="en-US" dirty="0">
                <a:latin typeface="Aptos" panose="020B0004020202020204" pitchFamily="34" charset="0"/>
              </a:rPr>
              <a:t>Airtable exposes the data via REST, which is accessed by the frontend</a:t>
            </a:r>
            <a:endParaRPr lang="en-ZA" dirty="0">
              <a:latin typeface="Aptos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4AF4F6-7459-4103-8F4F-968FA163E97E}"/>
              </a:ext>
            </a:extLst>
          </p:cNvPr>
          <p:cNvSpPr txBox="1"/>
          <p:nvPr/>
        </p:nvSpPr>
        <p:spPr>
          <a:xfrm>
            <a:off x="1079000" y="4990401"/>
            <a:ext cx="7526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Netlify: </a:t>
            </a:r>
            <a:r>
              <a:rPr lang="en-US" dirty="0"/>
              <a:t>Handles build and deployment of the React app (serves the frontend)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05417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82C1-7E27-50D3-B1C4-8CA70503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D61C-E2F2-A2B2-8DF7-5AD3BAC51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Screenshots of Learner Lane </a:t>
            </a:r>
            <a:endParaRPr lang="en-ZA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EF2B05-D753-A32A-0BC6-AA7329796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87" y="1690688"/>
            <a:ext cx="6962140" cy="4351338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DCE4A1-1A93-DE14-8D42-18B38DBBF58B}"/>
              </a:ext>
            </a:extLst>
          </p:cNvPr>
          <p:cNvCxnSpPr>
            <a:cxnSpLocks/>
          </p:cNvCxnSpPr>
          <p:nvPr/>
        </p:nvCxnSpPr>
        <p:spPr>
          <a:xfrm>
            <a:off x="4875202" y="1936312"/>
            <a:ext cx="41394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ADB4EE-0878-5A7A-0BD7-34CB6759FDE8}"/>
              </a:ext>
            </a:extLst>
          </p:cNvPr>
          <p:cNvCxnSpPr>
            <a:cxnSpLocks/>
          </p:cNvCxnSpPr>
          <p:nvPr/>
        </p:nvCxnSpPr>
        <p:spPr>
          <a:xfrm>
            <a:off x="4875202" y="4124546"/>
            <a:ext cx="41394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B378F0-26F0-79A1-7050-93B884CD9945}"/>
              </a:ext>
            </a:extLst>
          </p:cNvPr>
          <p:cNvCxnSpPr>
            <a:cxnSpLocks/>
          </p:cNvCxnSpPr>
          <p:nvPr/>
        </p:nvCxnSpPr>
        <p:spPr>
          <a:xfrm>
            <a:off x="4811942" y="5881459"/>
            <a:ext cx="41394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3607B7-E21E-C114-38D3-D1CAC1CA4CD2}"/>
              </a:ext>
            </a:extLst>
          </p:cNvPr>
          <p:cNvCxnSpPr>
            <a:cxnSpLocks/>
          </p:cNvCxnSpPr>
          <p:nvPr/>
        </p:nvCxnSpPr>
        <p:spPr>
          <a:xfrm>
            <a:off x="4875201" y="2344629"/>
            <a:ext cx="41394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F79FEB8-7E36-9B1B-30E7-5788F7C45C66}"/>
              </a:ext>
            </a:extLst>
          </p:cNvPr>
          <p:cNvSpPr/>
          <p:nvPr/>
        </p:nvSpPr>
        <p:spPr>
          <a:xfrm>
            <a:off x="3347049" y="3071004"/>
            <a:ext cx="1528152" cy="2165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noFill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C22D8D-ECB0-2E4A-5773-D59C3E05DA14}"/>
              </a:ext>
            </a:extLst>
          </p:cNvPr>
          <p:cNvSpPr txBox="1"/>
          <p:nvPr/>
        </p:nvSpPr>
        <p:spPr>
          <a:xfrm>
            <a:off x="8951343" y="1797812"/>
            <a:ext cx="300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Heading text that serves as a Home Button</a:t>
            </a:r>
            <a:endParaRPr lang="en-ZA" sz="1200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1131DE-8318-4FAB-1B24-D092B5A27316}"/>
              </a:ext>
            </a:extLst>
          </p:cNvPr>
          <p:cNvSpPr txBox="1"/>
          <p:nvPr/>
        </p:nvSpPr>
        <p:spPr>
          <a:xfrm>
            <a:off x="8951343" y="2229134"/>
            <a:ext cx="20054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Hero Text For Home Page</a:t>
            </a:r>
            <a:endParaRPr lang="en-ZA" sz="1200" dirty="0"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F6B075-AA22-72D4-AFA2-E060D074DF52}"/>
              </a:ext>
            </a:extLst>
          </p:cNvPr>
          <p:cNvSpPr txBox="1"/>
          <p:nvPr/>
        </p:nvSpPr>
        <p:spPr>
          <a:xfrm>
            <a:off x="9039007" y="3986046"/>
            <a:ext cx="20054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Section Navigation</a:t>
            </a:r>
            <a:endParaRPr lang="en-ZA" sz="1200" dirty="0"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C6ECFF-13F1-818A-08B3-542701C62448}"/>
              </a:ext>
            </a:extLst>
          </p:cNvPr>
          <p:cNvSpPr txBox="1"/>
          <p:nvPr/>
        </p:nvSpPr>
        <p:spPr>
          <a:xfrm>
            <a:off x="8951343" y="5742958"/>
            <a:ext cx="20054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Footer</a:t>
            </a:r>
            <a:endParaRPr lang="en-ZA" sz="1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063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1A232-6AAC-907B-A094-FF6675042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19A8DD-0DED-CE0A-2D21-C2F2DAEF6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81"/>
          <a:stretch>
            <a:fillRect/>
          </a:stretch>
        </p:blipFill>
        <p:spPr>
          <a:xfrm>
            <a:off x="279221" y="1167245"/>
            <a:ext cx="8732985" cy="452350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8F1886-BE6F-5F51-EE83-28C734EDC153}"/>
              </a:ext>
            </a:extLst>
          </p:cNvPr>
          <p:cNvSpPr txBox="1"/>
          <p:nvPr/>
        </p:nvSpPr>
        <p:spPr>
          <a:xfrm>
            <a:off x="9116291" y="1339273"/>
            <a:ext cx="27964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When the Introduction Button was clicked , it would take you to this page with even more sections to choose from  </a:t>
            </a:r>
            <a:endParaRPr lang="en-ZA" dirty="0">
              <a:latin typeface="Aptos" panose="020B00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690BCB-0174-1607-DC4B-858E7AEE9BAA}"/>
              </a:ext>
            </a:extLst>
          </p:cNvPr>
          <p:cNvCxnSpPr/>
          <p:nvPr/>
        </p:nvCxnSpPr>
        <p:spPr>
          <a:xfrm flipV="1">
            <a:off x="5865091" y="2124364"/>
            <a:ext cx="3362036" cy="1062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686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A7D2A-8513-6724-12A3-C604912F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2C3B79-D816-93BE-A131-D7A0F7C59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64"/>
          <a:stretch>
            <a:fillRect/>
          </a:stretch>
        </p:blipFill>
        <p:spPr>
          <a:xfrm>
            <a:off x="143933" y="201810"/>
            <a:ext cx="6962140" cy="30257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C6BBB7-A60A-7085-59B0-5BDAC615D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266" y="3429000"/>
            <a:ext cx="6163734" cy="3233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21B662-341B-128B-CD29-F8B52EF955E3}"/>
              </a:ext>
            </a:extLst>
          </p:cNvPr>
          <p:cNvSpPr txBox="1"/>
          <p:nvPr/>
        </p:nvSpPr>
        <p:spPr>
          <a:xfrm>
            <a:off x="7241309" y="791367"/>
            <a:ext cx="3288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Each section ends with a take quiz button that leads to the quiz page for that section</a:t>
            </a:r>
            <a:endParaRPr lang="en-ZA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162EE-216A-2385-AC52-6C6985031F6A}"/>
              </a:ext>
            </a:extLst>
          </p:cNvPr>
          <p:cNvSpPr txBox="1"/>
          <p:nvPr/>
        </p:nvSpPr>
        <p:spPr>
          <a:xfrm>
            <a:off x="1168400" y="4287331"/>
            <a:ext cx="32881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The Quiz button is only clickable once all check marks are clicked , making sure you only take the quiz once you understand each sentence.</a:t>
            </a:r>
            <a:endParaRPr lang="en-ZA" dirty="0">
              <a:latin typeface="Aptos" panose="020B00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DC5077-07B8-9BCE-1EB8-43EB028C93FD}"/>
              </a:ext>
            </a:extLst>
          </p:cNvPr>
          <p:cNvCxnSpPr/>
          <p:nvPr/>
        </p:nvCxnSpPr>
        <p:spPr>
          <a:xfrm flipV="1">
            <a:off x="4128655" y="1339273"/>
            <a:ext cx="3195781" cy="95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135129-AECD-8B85-90F6-FA0A738B447E}"/>
              </a:ext>
            </a:extLst>
          </p:cNvPr>
          <p:cNvCxnSpPr/>
          <p:nvPr/>
        </p:nvCxnSpPr>
        <p:spPr>
          <a:xfrm flipV="1">
            <a:off x="4456545" y="5043055"/>
            <a:ext cx="3791528" cy="378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930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E7BAC-9CB5-DDD2-C71E-B575B0E30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A62A0F-8364-A0DE-1A9E-55FC488F3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899" y="1253331"/>
            <a:ext cx="6962140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AA0395-5990-8653-C095-A51DDF5D9192}"/>
              </a:ext>
            </a:extLst>
          </p:cNvPr>
          <p:cNvSpPr txBox="1"/>
          <p:nvPr/>
        </p:nvSpPr>
        <p:spPr>
          <a:xfrm>
            <a:off x="498764" y="2029040"/>
            <a:ext cx="32881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The Quiz after each section looks like this , where 4 possible answers are available.</a:t>
            </a:r>
          </a:p>
          <a:p>
            <a:pPr algn="ctr"/>
            <a:r>
              <a:rPr lang="en-US" dirty="0">
                <a:latin typeface="Aptos" panose="020B0004020202020204" pitchFamily="34" charset="0"/>
              </a:rPr>
              <a:t>The Questions are displayed above the answers.</a:t>
            </a:r>
          </a:p>
          <a:p>
            <a:pPr algn="ctr"/>
            <a:r>
              <a:rPr lang="en-US" dirty="0">
                <a:latin typeface="Aptos" panose="020B0004020202020204" pitchFamily="34" charset="0"/>
              </a:rPr>
              <a:t>There might be moments where a section has more than one question.</a:t>
            </a:r>
            <a:endParaRPr lang="en-ZA" dirty="0">
              <a:latin typeface="Aptos" panose="020B00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1B4964-BA28-F168-2A82-7AB6F9E54DBA}"/>
              </a:ext>
            </a:extLst>
          </p:cNvPr>
          <p:cNvCxnSpPr>
            <a:stCxn id="6" idx="3"/>
          </p:cNvCxnSpPr>
          <p:nvPr/>
        </p:nvCxnSpPr>
        <p:spPr>
          <a:xfrm flipV="1">
            <a:off x="3786909" y="2262909"/>
            <a:ext cx="2613891" cy="920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C3BE20-A60A-B2F7-93FB-2D11CEBDE41C}"/>
              </a:ext>
            </a:extLst>
          </p:cNvPr>
          <p:cNvCxnSpPr>
            <a:stCxn id="6" idx="3"/>
          </p:cNvCxnSpPr>
          <p:nvPr/>
        </p:nvCxnSpPr>
        <p:spPr>
          <a:xfrm flipV="1">
            <a:off x="3786909" y="3094182"/>
            <a:ext cx="2493818" cy="89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960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36891-FADF-4BB1-5DE9-EDDBEA109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68B035-2D5E-601C-EF25-3883C1348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84" y="518571"/>
            <a:ext cx="8295526" cy="518470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304FA1-2882-A782-7B51-0D4FB6B059C3}"/>
              </a:ext>
            </a:extLst>
          </p:cNvPr>
          <p:cNvSpPr txBox="1"/>
          <p:nvPr/>
        </p:nvSpPr>
        <p:spPr>
          <a:xfrm>
            <a:off x="8959272" y="1674674"/>
            <a:ext cx="28909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A next Question Button will be displayed only once the right answer is selected.</a:t>
            </a:r>
          </a:p>
          <a:p>
            <a:pPr algn="ctr"/>
            <a:r>
              <a:rPr lang="en-US" dirty="0">
                <a:latin typeface="Aptos" panose="020B0004020202020204" pitchFamily="34" charset="0"/>
              </a:rPr>
              <a:t>The correct answer will be shown as green and red when incorrect.</a:t>
            </a:r>
            <a:endParaRPr lang="en-ZA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6B49CA-B41F-8DF2-1C21-415EE9F92E05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6502400" y="2447636"/>
            <a:ext cx="2456872" cy="104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6971FA-7F27-4BB0-081A-56FE3317E68A}"/>
              </a:ext>
            </a:extLst>
          </p:cNvPr>
          <p:cNvCxnSpPr>
            <a:stCxn id="7" idx="1"/>
          </p:cNvCxnSpPr>
          <p:nvPr/>
        </p:nvCxnSpPr>
        <p:spPr>
          <a:xfrm flipH="1">
            <a:off x="5089236" y="2551837"/>
            <a:ext cx="3870036" cy="1124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69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ED3E1-FCB8-1C58-C550-3587C884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AD4A56-EA83-6756-3D7C-48B6A69EF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960102"/>
              </p:ext>
            </p:extLst>
          </p:nvPr>
        </p:nvGraphicFramePr>
        <p:xfrm>
          <a:off x="1292608" y="274320"/>
          <a:ext cx="9606783" cy="630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5110">
                  <a:extLst>
                    <a:ext uri="{9D8B030D-6E8A-4147-A177-3AD203B41FA5}">
                      <a16:colId xmlns:a16="http://schemas.microsoft.com/office/drawing/2014/main" val="1931592651"/>
                    </a:ext>
                  </a:extLst>
                </a:gridCol>
                <a:gridCol w="2613891">
                  <a:extLst>
                    <a:ext uri="{9D8B030D-6E8A-4147-A177-3AD203B41FA5}">
                      <a16:colId xmlns:a16="http://schemas.microsoft.com/office/drawing/2014/main" val="2640752891"/>
                    </a:ext>
                  </a:extLst>
                </a:gridCol>
                <a:gridCol w="3029737">
                  <a:extLst>
                    <a:ext uri="{9D8B030D-6E8A-4147-A177-3AD203B41FA5}">
                      <a16:colId xmlns:a16="http://schemas.microsoft.com/office/drawing/2014/main" val="2848246395"/>
                    </a:ext>
                  </a:extLst>
                </a:gridCol>
                <a:gridCol w="2198045">
                  <a:extLst>
                    <a:ext uri="{9D8B030D-6E8A-4147-A177-3AD203B41FA5}">
                      <a16:colId xmlns:a16="http://schemas.microsoft.com/office/drawing/2014/main" val="2046203843"/>
                    </a:ext>
                  </a:extLst>
                </a:gridCol>
              </a:tblGrid>
              <a:tr h="5457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Feature / Design</a:t>
                      </a:r>
                      <a:endParaRPr lang="en-ZA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Original Plan</a:t>
                      </a:r>
                      <a:endParaRPr lang="en-ZA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Final Implementation</a:t>
                      </a:r>
                      <a:endParaRPr lang="en-ZA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Reason For Change</a:t>
                      </a:r>
                      <a:endParaRPr lang="en-ZA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333345"/>
                  </a:ext>
                </a:extLst>
              </a:tr>
              <a:tr h="7526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Section Locking / Sequential Flow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Users had to complete topics in a fixed order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Users can now access any topic in any order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Gave users more freedom and reduced frustration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786251"/>
                  </a:ext>
                </a:extLst>
              </a:tr>
              <a:tr h="7526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Font Styling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Default Fonts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Switched to custom Google Fonts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Improved readability and made the design feel more modern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300251"/>
                  </a:ext>
                </a:extLst>
              </a:tr>
              <a:tr h="7526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Section Page Layouts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Basic Static Design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Enhanced layout with better spacing, alignment and styling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Improved visual flow and engagement on rules and signs pages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445999"/>
                  </a:ext>
                </a:extLst>
              </a:tr>
              <a:tr h="7526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Progress Tracking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No visual Feedback for Completed Content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Added icons to show completion of lines before the quiz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Helps users track learning progress and feel a sense of accomplishment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608690"/>
                  </a:ext>
                </a:extLst>
              </a:tr>
              <a:tr h="7526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Data Fetching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Used Native fetch() for HTTP requests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Replaced with Axios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Cleaner syntax, better error handling, and easier to use with Airtable</a:t>
                      </a:r>
                      <a:endParaRPr lang="en-ZA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75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135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90EC-6D46-AE24-962A-64D422172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D6B2-147F-2627-0CCF-B33C54BD4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Learner Lane Web App</a:t>
            </a:r>
            <a:endParaRPr lang="en-ZA" dirty="0">
              <a:latin typeface="Arial Black" panose="020B0A04020102020204" pitchFamily="34" charset="0"/>
            </a:endParaRPr>
          </a:p>
        </p:txBody>
      </p:sp>
      <p:pic>
        <p:nvPicPr>
          <p:cNvPr id="4" name="2025-07-02 12-54-09">
            <a:hlinkClick r:id="" action="ppaction://media"/>
            <a:extLst>
              <a:ext uri="{FF2B5EF4-FFF2-40B4-BE49-F238E27FC236}">
                <a16:creationId xmlns:a16="http://schemas.microsoft.com/office/drawing/2014/main" id="{2C59BA06-43C1-3348-341D-15D199DC512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06359" y="1462062"/>
            <a:ext cx="8579282" cy="4825737"/>
          </a:xfrm>
        </p:spPr>
      </p:pic>
    </p:spTree>
    <p:extLst>
      <p:ext uri="{BB962C8B-B14F-4D97-AF65-F5344CB8AC3E}">
        <p14:creationId xmlns:p14="http://schemas.microsoft.com/office/powerpoint/2010/main" val="140115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1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601</Words>
  <Application>Microsoft Office PowerPoint</Application>
  <PresentationFormat>Widescreen</PresentationFormat>
  <Paragraphs>61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Calibri Light</vt:lpstr>
      <vt:lpstr>Office Theme</vt:lpstr>
      <vt:lpstr>Learner Lane Web Application</vt:lpstr>
      <vt:lpstr>Purpose of Learner Lane</vt:lpstr>
      <vt:lpstr>Architecture Diagram of Learner Lane</vt:lpstr>
      <vt:lpstr>Overview of Technology Choices:</vt:lpstr>
      <vt:lpstr>Screenshots of Learner Lane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Learner Lane Web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O'Connor_Brandon_9214115_PJWD_P2_S</dc:title>
  <dc:creator>Brandon O'Connor</dc:creator>
  <cp:lastModifiedBy>Brandon O'Connor</cp:lastModifiedBy>
  <cp:revision>21</cp:revision>
  <dcterms:created xsi:type="dcterms:W3CDTF">2025-06-23T11:23:39Z</dcterms:created>
  <dcterms:modified xsi:type="dcterms:W3CDTF">2025-07-02T10:59:15Z</dcterms:modified>
</cp:coreProperties>
</file>